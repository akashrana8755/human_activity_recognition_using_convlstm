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76"/>
  </p:normalViewPr>
  <p:slideViewPr>
    <p:cSldViewPr snapToGrid="0" snapToObjects="1">
      <p:cViewPr varScale="1">
        <p:scale>
          <a:sx n="114" d="100"/>
          <a:sy n="114" d="100"/>
        </p:scale>
        <p:origin x="14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256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3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44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99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62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45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82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7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435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62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49272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320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9685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82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412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504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2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Milestone 2 Progress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Real-Time Human Activity Classification Using CNN and LSTM/Transformer</a:t>
            </a:r>
          </a:p>
          <a:p>
            <a:r>
              <a:t>Akash Rana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Where I 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Implemented first version using ConvLSTM2D layers</a:t>
            </a:r>
          </a:p>
          <a:p>
            <a:r>
              <a:rPr dirty="0"/>
              <a:t>Model runs successfully but needs optimization</a:t>
            </a:r>
          </a:p>
          <a:p>
            <a:r>
              <a:rPr dirty="0"/>
              <a:t>Currently improving architecture and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running track&#10;&#10;AI-generated content may be incorrect.">
            <a:extLst>
              <a:ext uri="{FF2B5EF4-FFF2-40B4-BE49-F238E27FC236}">
                <a16:creationId xmlns:a16="http://schemas.microsoft.com/office/drawing/2014/main" id="{5752C468-D8B7-DBEE-2961-91DEEA389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604" y="643467"/>
            <a:ext cx="634879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0676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I’ve Done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</a:t>
            </a:r>
            <a:r>
              <a:rPr dirty="0" err="1"/>
              <a:t>ConvLSTM</a:t>
            </a:r>
            <a:r>
              <a:rPr dirty="0"/>
              <a:t> model for spatiotemporal learning</a:t>
            </a:r>
          </a:p>
          <a:p>
            <a:r>
              <a:rPr dirty="0"/>
              <a:t>Integrated MaxPooling3D, </a:t>
            </a:r>
            <a:r>
              <a:rPr dirty="0" err="1"/>
              <a:t>TimeDistributed</a:t>
            </a:r>
            <a:r>
              <a:rPr dirty="0"/>
              <a:t>, Flatten, and Dense layers</a:t>
            </a:r>
          </a:p>
          <a:p>
            <a:r>
              <a:rPr dirty="0"/>
              <a:t>Verified model structure and output</a:t>
            </a:r>
          </a:p>
          <a:p>
            <a:r>
              <a:rPr dirty="0"/>
              <a:t>Began identifying and addressing performance issues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Architecture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4 ConvLSTM2D layers with pooling and dense output</a:t>
            </a:r>
          </a:p>
          <a:p>
            <a:r>
              <a:rPr dirty="0"/>
              <a:t>Output shape before dense layer: (None, 2880)</a:t>
            </a:r>
          </a:p>
          <a:p>
            <a:r>
              <a:rPr dirty="0"/>
              <a:t>Dense layer outputs 4 activity classes</a:t>
            </a:r>
          </a:p>
          <a:p>
            <a:r>
              <a:rPr dirty="0"/>
              <a:t>Total Parameters: 44,524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3">
            <a:extLst>
              <a:ext uri="{FF2B5EF4-FFF2-40B4-BE49-F238E27FC236}">
                <a16:creationId xmlns:a16="http://schemas.microsoft.com/office/drawing/2014/main" id="{609316A9-990D-4EC3-A671-70EE5C149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B0C6109-9159-49CA-AD7A-F9035539DB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86F14F5-308C-4EB6-87AB-05DE9501B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ectangle 23">
              <a:extLst>
                <a:ext uri="{FF2B5EF4-FFF2-40B4-BE49-F238E27FC236}">
                  <a16:creationId xmlns:a16="http://schemas.microsoft.com/office/drawing/2014/main" id="{BA032363-A188-47C5-9D59-9B788809D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Rectangle 25">
              <a:extLst>
                <a:ext uri="{FF2B5EF4-FFF2-40B4-BE49-F238E27FC236}">
                  <a16:creationId xmlns:a16="http://schemas.microsoft.com/office/drawing/2014/main" id="{2C4077DF-6BB9-4069-AD28-6B1664EBB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Isosceles Triangle 44">
              <a:extLst>
                <a:ext uri="{FF2B5EF4-FFF2-40B4-BE49-F238E27FC236}">
                  <a16:creationId xmlns:a16="http://schemas.microsoft.com/office/drawing/2014/main" id="{1D2B8B50-3419-41ED-9A9F-3CF9EEB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Rectangle 27">
              <a:extLst>
                <a:ext uri="{FF2B5EF4-FFF2-40B4-BE49-F238E27FC236}">
                  <a16:creationId xmlns:a16="http://schemas.microsoft.com/office/drawing/2014/main" id="{5C640498-2E73-4FA2-BEB6-C3596A458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Rectangle 28">
              <a:extLst>
                <a:ext uri="{FF2B5EF4-FFF2-40B4-BE49-F238E27FC236}">
                  <a16:creationId xmlns:a16="http://schemas.microsoft.com/office/drawing/2014/main" id="{3240EEFC-4112-4C39-A816-C815774F6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Rectangle 29">
              <a:extLst>
                <a:ext uri="{FF2B5EF4-FFF2-40B4-BE49-F238E27FC236}">
                  <a16:creationId xmlns:a16="http://schemas.microsoft.com/office/drawing/2014/main" id="{ADF362B0-03EA-4800-9FAA-9F128587E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Isosceles Triangle 48">
              <a:extLst>
                <a:ext uri="{FF2B5EF4-FFF2-40B4-BE49-F238E27FC236}">
                  <a16:creationId xmlns:a16="http://schemas.microsoft.com/office/drawing/2014/main" id="{0BA84559-2F4C-4795-9246-4C563F942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Isosceles Triangle 49">
              <a:extLst>
                <a:ext uri="{FF2B5EF4-FFF2-40B4-BE49-F238E27FC236}">
                  <a16:creationId xmlns:a16="http://schemas.microsoft.com/office/drawing/2014/main" id="{FA77A1AA-CA47-4A91-A0A1-0A8CE31A9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03E8462A-FEBA-4848-81CC-3F8DA3E47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109F83F-40FE-4DB3-84CC-09FB3340D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9144001" cy="6866467"/>
            <a:chOff x="0" y="-8467"/>
            <a:chExt cx="12192000" cy="686646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1DE492D7-C3C3-48FF-80C8-37021EA02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23">
              <a:extLst>
                <a:ext uri="{FF2B5EF4-FFF2-40B4-BE49-F238E27FC236}">
                  <a16:creationId xmlns:a16="http://schemas.microsoft.com/office/drawing/2014/main" id="{0B30FF97-2E9A-490A-AED2-90BA2E0EC1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Rectangle 25">
              <a:extLst>
                <a:ext uri="{FF2B5EF4-FFF2-40B4-BE49-F238E27FC236}">
                  <a16:creationId xmlns:a16="http://schemas.microsoft.com/office/drawing/2014/main" id="{B6D53C7D-A312-47B6-A66A-230A19CFAC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Isosceles Triangle 57">
              <a:extLst>
                <a:ext uri="{FF2B5EF4-FFF2-40B4-BE49-F238E27FC236}">
                  <a16:creationId xmlns:a16="http://schemas.microsoft.com/office/drawing/2014/main" id="{9329D58C-0D2E-4A2B-AD6A-9CEE506784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Rectangle 27">
              <a:extLst>
                <a:ext uri="{FF2B5EF4-FFF2-40B4-BE49-F238E27FC236}">
                  <a16:creationId xmlns:a16="http://schemas.microsoft.com/office/drawing/2014/main" id="{9D446EDE-C690-4461-8BF2-7634808FC8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Rectangle 28">
              <a:extLst>
                <a:ext uri="{FF2B5EF4-FFF2-40B4-BE49-F238E27FC236}">
                  <a16:creationId xmlns:a16="http://schemas.microsoft.com/office/drawing/2014/main" id="{323F3D34-6531-4AD7-A8C6-195A09028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Rectangle 29">
              <a:extLst>
                <a:ext uri="{FF2B5EF4-FFF2-40B4-BE49-F238E27FC236}">
                  <a16:creationId xmlns:a16="http://schemas.microsoft.com/office/drawing/2014/main" id="{B9B0AE3F-2350-435F-A9B0-C310BF876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Isosceles Triangle 61">
              <a:extLst>
                <a:ext uri="{FF2B5EF4-FFF2-40B4-BE49-F238E27FC236}">
                  <a16:creationId xmlns:a16="http://schemas.microsoft.com/office/drawing/2014/main" id="{4EFA655C-9E50-4C14-A89E-AD7B648E4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Isosceles Triangle 62">
              <a:extLst>
                <a:ext uri="{FF2B5EF4-FFF2-40B4-BE49-F238E27FC236}">
                  <a16:creationId xmlns:a16="http://schemas.microsoft.com/office/drawing/2014/main" id="{3E843863-7D25-4C01-9A17-E817CB6D99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7941F9B1-B01B-4A84-89D9-B169AEB4E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A84EEFF1-07AF-FA52-6F6D-D9B824D63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465" y="1131994"/>
            <a:ext cx="7172477" cy="459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666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What I’ve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ConvLSTM</a:t>
            </a:r>
            <a:r>
              <a:rPr dirty="0"/>
              <a:t> handles spatiotemporal data well</a:t>
            </a:r>
          </a:p>
          <a:p>
            <a:r>
              <a:rPr dirty="0"/>
              <a:t>Requires significant computation resources</a:t>
            </a:r>
          </a:p>
          <a:p>
            <a:r>
              <a:rPr dirty="0"/>
              <a:t>Learned importance of shape consistency</a:t>
            </a:r>
          </a:p>
          <a:p>
            <a:r>
              <a:rPr dirty="0"/>
              <a:t>Realized modular approaches may be more efficient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Limited hardware for training deep models</a:t>
            </a:r>
          </a:p>
          <a:p>
            <a:r>
              <a:rPr dirty="0"/>
              <a:t>Complex tuning of </a:t>
            </a:r>
            <a:r>
              <a:rPr dirty="0" err="1"/>
              <a:t>ConvLSTM</a:t>
            </a:r>
            <a:r>
              <a:rPr dirty="0"/>
              <a:t> architecture</a:t>
            </a:r>
          </a:p>
          <a:p>
            <a:r>
              <a:rPr dirty="0"/>
              <a:t>Suboptimal initial performance</a:t>
            </a:r>
          </a:p>
          <a:p>
            <a:r>
              <a:rPr dirty="0"/>
              <a:t>Long training times limiting experimentation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Future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Explore LRCN approach (CNN + LSTM)</a:t>
            </a:r>
          </a:p>
          <a:p>
            <a:r>
              <a:rPr dirty="0"/>
              <a:t>Try separate CNN and LSTM training</a:t>
            </a:r>
          </a:p>
          <a:p>
            <a:r>
              <a:rPr dirty="0"/>
              <a:t>Use pretrained CNNs (e.g., </a:t>
            </a:r>
            <a:r>
              <a:rPr dirty="0" err="1"/>
              <a:t>ResNet</a:t>
            </a:r>
            <a:r>
              <a:rPr dirty="0"/>
              <a:t>, </a:t>
            </a:r>
            <a:r>
              <a:rPr dirty="0" err="1"/>
              <a:t>MobileNet</a:t>
            </a:r>
            <a:r>
              <a:rPr dirty="0"/>
              <a:t>)</a:t>
            </a:r>
          </a:p>
          <a:p>
            <a:r>
              <a:rPr dirty="0"/>
              <a:t>Optimize for real-time inference and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Changes from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May </a:t>
            </a:r>
            <a:r>
              <a:rPr dirty="0"/>
              <a:t>Shift from </a:t>
            </a:r>
            <a:r>
              <a:rPr dirty="0" err="1"/>
              <a:t>ConvLSTM</a:t>
            </a:r>
            <a:r>
              <a:rPr dirty="0"/>
              <a:t>-first to modular CNN+LSTM</a:t>
            </a:r>
          </a:p>
          <a:p>
            <a:r>
              <a:rPr dirty="0"/>
              <a:t>Transformer model postponed due to complexity</a:t>
            </a:r>
          </a:p>
          <a:p>
            <a:r>
              <a:rPr dirty="0"/>
              <a:t>Focus now on efficiency, modularity, and scalability</a:t>
            </a:r>
          </a:p>
          <a:p>
            <a:r>
              <a:rPr dirty="0"/>
              <a:t>Prioritizing models compatible with transfer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223</Words>
  <Application>Microsoft Macintosh PowerPoint</Application>
  <PresentationFormat>On-screen Show (4:3)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Milestone 2 Progress Report</vt:lpstr>
      <vt:lpstr>1. Where I Am</vt:lpstr>
      <vt:lpstr>PowerPoint Presentation</vt:lpstr>
      <vt:lpstr>2. What I’ve Done So Far</vt:lpstr>
      <vt:lpstr>Model Architecture Summary</vt:lpstr>
      <vt:lpstr>PowerPoint Presentation</vt:lpstr>
      <vt:lpstr>3. What I’ve Learned</vt:lpstr>
      <vt:lpstr>4. Difficulties</vt:lpstr>
      <vt:lpstr>5. Future Plans</vt:lpstr>
      <vt:lpstr>6. Changes from Proposal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 Rana</cp:lastModifiedBy>
  <cp:revision>3</cp:revision>
  <dcterms:created xsi:type="dcterms:W3CDTF">2013-01-27T09:14:16Z</dcterms:created>
  <dcterms:modified xsi:type="dcterms:W3CDTF">2025-03-25T03:51:43Z</dcterms:modified>
  <cp:category/>
</cp:coreProperties>
</file>