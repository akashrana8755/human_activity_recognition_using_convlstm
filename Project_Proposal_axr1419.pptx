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7" r:id="rId5"/>
    <p:sldId id="335" r:id="rId6"/>
    <p:sldId id="336" r:id="rId7"/>
    <p:sldId id="337" r:id="rId8"/>
    <p:sldId id="339" r:id="rId9"/>
    <p:sldId id="340" r:id="rId10"/>
    <p:sldId id="341" r:id="rId11"/>
    <p:sldId id="342" r:id="rId12"/>
    <p:sldId id="343" r:id="rId13"/>
    <p:sldId id="344" r:id="rId14"/>
    <p:sldId id="3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AC24E8-B419-B642-9B7E-6825252AB379}" v="22" dt="2024-12-04T20:49:02.860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7" autoAdjust="0"/>
    <p:restoredTop sz="93758" autoAdjust="0"/>
  </p:normalViewPr>
  <p:slideViewPr>
    <p:cSldViewPr snapToGrid="0">
      <p:cViewPr varScale="1">
        <p:scale>
          <a:sx n="123" d="100"/>
          <a:sy n="123" d="100"/>
        </p:scale>
        <p:origin x="312" y="184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3/3/25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810C3-D466-1933-5A90-098B22A87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3F021-6FCD-02A3-7726-97E8C07EA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5CAB6-473E-D596-AD60-53D3F45BE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7793B-D2F3-3B06-243A-F07912E35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06474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8B71E-25F8-9F23-8521-690AC63D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FC49D-22C9-3831-3ACD-86E9D0F59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EC4DA-8389-2DC1-C2E7-31A184ADD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1B268-0048-8330-1F30-D22B0DA59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9499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B2C6-0253-EB7F-91E7-A450122CB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189FE-F0EB-6A3E-FDD2-C54D56E26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DF9C8-94B6-B725-29DA-5280D6F8C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886C8-73ED-6756-67EC-C5F415128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22560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CE8D3-8DA5-3898-2F08-FE9F0EA8D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445FE-D0DA-19E3-098C-6E2F98165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3FDEE-AFA3-D9BC-AABA-CF67C6FA9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3FE63-AC44-60DF-99CD-4F04DBE5C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79293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111E-A4D1-300B-F0D6-7FAAD1C40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222C2-07D2-188B-7527-C0C8981EE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3EE94-C397-0C93-6F5B-4C85051D6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089D7-6DB5-27F6-5246-BECDBCA0D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4240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69A1B-6EB3-250D-6948-4511DC388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DF876-3DA1-8383-3740-ED47B4C5F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9916A-3E6B-54AF-B75B-88C0616A6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0BEDB-2890-AEAA-BAB6-A906D67A1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8655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B6CD9-6118-E108-8D15-69B18B327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34F68-2B5E-8E43-71D5-8BE47F1C3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9DEAC-FC19-3461-0CDA-81E540EE5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8DD9E-C7F6-69D9-40F6-3747F5D58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2126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994A3-0283-A66B-E725-15B7C1E2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D042A-AF74-9A99-E827-115489F17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AD298-ABFF-E51C-71BD-C0ED396AB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4E723-DDFD-E1AC-9244-771C7E9CF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607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297ED-8E04-CE4C-A8DA-785EBF9A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9285C-3D6D-0EF5-9772-4A4452C45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137E6-1538-794E-7134-84E89B2ED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E1402-1661-9D0D-B137-2324C9142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3738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914400"/>
            <a:ext cx="12177465" cy="5029200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Real-Time Human Activity Classification Using CNN and LSTM/Transformer</a:t>
            </a:r>
            <a:br>
              <a:rPr lang="en-US" dirty="0">
                <a:ea typeface="+mj-lt"/>
                <a:cs typeface="+mj-lt"/>
              </a:rPr>
            </a:br>
            <a:r>
              <a:rPr lang="en-US" dirty="0">
                <a:ea typeface="+mj-lt"/>
                <a:cs typeface="+mj-lt"/>
              </a:rPr>
              <a:t>						                          </a:t>
            </a:r>
            <a:br>
              <a:rPr lang="en-US" dirty="0">
                <a:ea typeface="+mj-lt"/>
                <a:cs typeface="+mj-lt"/>
              </a:rPr>
            </a:br>
            <a:r>
              <a:rPr lang="en-US" dirty="0">
                <a:ea typeface="+mj-lt"/>
                <a:cs typeface="+mj-lt"/>
              </a:rPr>
              <a:t>                                                                            </a:t>
            </a:r>
            <a:r>
              <a:rPr lang="en-US" sz="3200" dirty="0">
                <a:ea typeface="+mj-lt"/>
                <a:cs typeface="+mj-lt"/>
              </a:rPr>
              <a:t>-Akash Rana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4941C-4E3D-B332-06FE-C658A6AC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7F00F4-B2F8-9886-E697-42367CCE3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Introduction &amp; Motivation 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FD5D29-2966-1805-7EE0-E2935CDD933A}"/>
              </a:ext>
            </a:extLst>
          </p:cNvPr>
          <p:cNvSpPr txBox="1"/>
          <p:nvPr/>
        </p:nvSpPr>
        <p:spPr>
          <a:xfrm>
            <a:off x="936977" y="1524000"/>
            <a:ext cx="10687463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Problem:</a:t>
            </a:r>
          </a:p>
          <a:p>
            <a:r>
              <a:rPr lang="en-US" sz="2400" dirty="0"/>
              <a:t>	Human activity recognition (HAR) is critical for smart surveillance, healthcare, 	and home automation.</a:t>
            </a:r>
          </a:p>
          <a:p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Objective: </a:t>
            </a:r>
          </a:p>
          <a:p>
            <a:pPr lvl="1"/>
            <a:r>
              <a:rPr lang="en-US" sz="2400" b="1" dirty="0"/>
              <a:t>	</a:t>
            </a:r>
            <a:r>
              <a:rPr lang="en-US" sz="2400" dirty="0"/>
              <a:t>Develop a real-time system to classify activities (e.g., walking, jumping, 	cooking) using deep learning.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996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DE746-D0B6-A8F1-5A09-F85CB50C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D88DC9-2D0D-684B-963F-70ED24AD6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Motivation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DB5AE-FB19-1578-AA16-D1456D8A8C62}"/>
              </a:ext>
            </a:extLst>
          </p:cNvPr>
          <p:cNvSpPr txBox="1"/>
          <p:nvPr/>
        </p:nvSpPr>
        <p:spPr>
          <a:xfrm>
            <a:off x="936978" y="1524000"/>
            <a:ext cx="60204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Applications: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Elderly care, security monitoring, fitness tracking.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Home automation (user behavior-driven environments).</a:t>
            </a:r>
          </a:p>
          <a:p>
            <a:endParaRPr lang="en-US" sz="2400" b="1" dirty="0"/>
          </a:p>
          <a:p>
            <a:r>
              <a:rPr lang="en-US" sz="2400" b="1" dirty="0"/>
              <a:t>Technical Motivation: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Leverage hybrid deep learning models for enhanced accuracy and speed.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642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D2076-CA9E-F89A-F3C4-AB23C7B5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CA4C4E-8E2A-4105-B6B2-D0E6E9B21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Dataset &amp; Preprocessing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C1809-286F-D912-A739-317DC328DE35}"/>
              </a:ext>
            </a:extLst>
          </p:cNvPr>
          <p:cNvSpPr txBox="1"/>
          <p:nvPr/>
        </p:nvSpPr>
        <p:spPr>
          <a:xfrm>
            <a:off x="936978" y="1524000"/>
            <a:ext cx="1031804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Candidate Datasets: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UCF101 (13k videos, 101 classes).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HMDB51 (7k videos, 51 classes).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Kinetics-400 (300k videos, 400 classes; computationally heavy).</a:t>
            </a:r>
          </a:p>
          <a:p>
            <a:endParaRPr lang="en-US" sz="2400" b="1" dirty="0"/>
          </a:p>
          <a:p>
            <a:r>
              <a:rPr lang="en-US" sz="2400" b="1" dirty="0"/>
              <a:t>Preprocessing Steps: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Spatial: Resize frames (224x224), normalize.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Temporal: 16-frame clips @ 10 FPS.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Augmentation: Random cropping, flipping, brightness adjustment.</a:t>
            </a:r>
          </a:p>
          <a:p>
            <a:br>
              <a:rPr lang="en-US" sz="2400" b="1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987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0ABBB-5DB8-981E-EF7C-36820D263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5EA38-458B-1BD8-CE43-AE6881E1F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 Model Architecture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77A1E-4CB8-A212-0869-B9D64545F622}"/>
              </a:ext>
            </a:extLst>
          </p:cNvPr>
          <p:cNvSpPr txBox="1"/>
          <p:nvPr/>
        </p:nvSpPr>
        <p:spPr>
          <a:xfrm>
            <a:off x="936978" y="1524000"/>
            <a:ext cx="1062810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Hybrid Design:</a:t>
            </a:r>
          </a:p>
          <a:p>
            <a:endParaRPr lang="en-US" sz="2400" b="1" dirty="0"/>
          </a:p>
          <a:p>
            <a:r>
              <a:rPr lang="en-US" sz="2400" b="1" dirty="0"/>
              <a:t>Spatial Feature Extractor: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CNN Backbone: ResNet-50 (pre-trained) or I3D.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Output: 2048-D feature vector per frame.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r>
              <a:rPr lang="en-US" sz="2400" b="1" dirty="0"/>
              <a:t>Temporal Modeling: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Bi-LSTM (2-layer, 128 units) OR Transformer (4-head self-attention).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Classifier: FC layer + </a:t>
            </a:r>
            <a:r>
              <a:rPr lang="en-US" sz="2400" b="1" dirty="0" err="1"/>
              <a:t>Softmax</a:t>
            </a:r>
            <a:r>
              <a:rPr lang="en-US" sz="2400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Optimization: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Lightweight CNNs (MobileNetV2), model quantization (FP16/TF-Lite).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96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C500E-E732-48E0-526B-400D5A6CF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4A710A-3404-6FCD-5020-180208FCA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Workflow Overview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62A3A-1DF3-CFFA-55D0-D56046546FE5}"/>
              </a:ext>
            </a:extLst>
          </p:cNvPr>
          <p:cNvSpPr txBox="1"/>
          <p:nvPr/>
        </p:nvSpPr>
        <p:spPr>
          <a:xfrm>
            <a:off x="936978" y="1524000"/>
            <a:ext cx="1031804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Data Pipeline: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Extract frames → preprocess → store in </a:t>
            </a:r>
            <a:r>
              <a:rPr lang="en-US" sz="2400" b="1" dirty="0" err="1"/>
              <a:t>TFRecords</a:t>
            </a:r>
            <a:r>
              <a:rPr lang="en-US" sz="2400" b="1" dirty="0"/>
              <a:t>/</a:t>
            </a:r>
            <a:r>
              <a:rPr lang="en-US" sz="2400" b="1" dirty="0" err="1"/>
              <a:t>PyTorch</a:t>
            </a:r>
            <a:r>
              <a:rPr lang="en-US" sz="2400" b="1" dirty="0"/>
              <a:t> Dataset.</a:t>
            </a:r>
          </a:p>
          <a:p>
            <a:pPr lvl="1"/>
            <a:endParaRPr lang="en-US" sz="2400" b="1" dirty="0"/>
          </a:p>
          <a:p>
            <a:r>
              <a:rPr lang="en-US" sz="2400" b="1" dirty="0"/>
              <a:t>Training: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Freeze CNN → train LSTM/Transformer → unfreeze for fine-tuning.</a:t>
            </a:r>
          </a:p>
          <a:p>
            <a:pPr lvl="1"/>
            <a:endParaRPr lang="en-US" sz="2400" b="1" dirty="0"/>
          </a:p>
          <a:p>
            <a:r>
              <a:rPr lang="en-US" sz="2400" b="1" dirty="0"/>
              <a:t>Real-Time Inference: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Stream video (OpenCV) → buffer 16 frames → predict → display output.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222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A37B-73DA-2E33-F89E-BB6FC793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82F7BA-6FA8-810B-876C-10CF72B41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Evaluation Metrics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54323-DFCB-3BE2-4039-3F00DC172D74}"/>
              </a:ext>
            </a:extLst>
          </p:cNvPr>
          <p:cNvSpPr txBox="1"/>
          <p:nvPr/>
        </p:nvSpPr>
        <p:spPr>
          <a:xfrm>
            <a:off x="1294330" y="1692166"/>
            <a:ext cx="1031804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Accuracy: Overall classification performance.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Per-Class Metrics: Precision, Recall, F1-Score.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Confusion Matrix: Identify misclassifications (e.g., walking vs. running).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Speed: Target ≥20 FPS on GPU/CPU.</a:t>
            </a:r>
          </a:p>
          <a:p>
            <a:br>
              <a:rPr lang="en-US" sz="2400" b="1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685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EBAB0-546B-B4AF-AE44-22FEC8A09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D03D0E-1C3E-41C2-29E9-6C6BAC796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Expected Results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93261-F0DC-143E-D459-2DED36D912C7}"/>
              </a:ext>
            </a:extLst>
          </p:cNvPr>
          <p:cNvSpPr txBox="1"/>
          <p:nvPr/>
        </p:nvSpPr>
        <p:spPr>
          <a:xfrm>
            <a:off x="1294330" y="1692166"/>
            <a:ext cx="102954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Accuracy: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LSTM: ~92% (UCF101).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Transformer: ~94% (UCF101).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r>
              <a:rPr lang="en-US" sz="2400" b="1" dirty="0"/>
              <a:t>Speed: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LSTM: 25 FPS (GPU).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Transformer: 18 FPS (GPU).</a:t>
            </a:r>
          </a:p>
          <a:p>
            <a:pPr lvl="1"/>
            <a:endParaRPr lang="en-US" sz="2400" b="1" dirty="0"/>
          </a:p>
          <a:p>
            <a:r>
              <a:rPr lang="en-US" sz="2400" b="1" dirty="0"/>
              <a:t>Robustness: Better for dynamic actions (jumping) vs. fine-grained tasks (cooking).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169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3316D-41C2-B86A-42D4-1BCD888B7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66C1B0-E935-E229-BB10-EDD33BEB1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Challenges &amp; Solutions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6D721F1-1D59-5B38-43E2-097C316F3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8AC546-A8CF-8B2F-EE1F-F5D2A79C0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826154"/>
              </p:ext>
            </p:extLst>
          </p:nvPr>
        </p:nvGraphicFramePr>
        <p:xfrm>
          <a:off x="1042873" y="2103377"/>
          <a:ext cx="6949441" cy="3026150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</a:tblPr>
              <a:tblGrid>
                <a:gridCol w="3127352">
                  <a:extLst>
                    <a:ext uri="{9D8B030D-6E8A-4147-A177-3AD203B41FA5}">
                      <a16:colId xmlns:a16="http://schemas.microsoft.com/office/drawing/2014/main" val="3194869225"/>
                    </a:ext>
                  </a:extLst>
                </a:gridCol>
                <a:gridCol w="3822089">
                  <a:extLst>
                    <a:ext uri="{9D8B030D-6E8A-4147-A177-3AD203B41FA5}">
                      <a16:colId xmlns:a16="http://schemas.microsoft.com/office/drawing/2014/main" val="3709495311"/>
                    </a:ext>
                  </a:extLst>
                </a:gridCol>
              </a:tblGrid>
              <a:tr h="681879">
                <a:tc>
                  <a:txBody>
                    <a:bodyPr/>
                    <a:lstStyle/>
                    <a:p>
                      <a:pPr algn="l"/>
                      <a:r>
                        <a:rPr lang="en-US" sz="2600" b="0" cap="none" spc="0" dirty="0">
                          <a:solidFill>
                            <a:schemeClr val="bg1"/>
                          </a:solidFill>
                          <a:effectLst/>
                        </a:rPr>
                        <a:t>Challenge</a:t>
                      </a:r>
                    </a:p>
                  </a:txBody>
                  <a:tcPr marL="149317" marR="149317" marT="149317" marB="7465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b="0" cap="none" spc="0">
                          <a:solidFill>
                            <a:schemeClr val="bg1"/>
                          </a:solidFill>
                          <a:effectLst/>
                        </a:rPr>
                        <a:t>Solution</a:t>
                      </a:r>
                    </a:p>
                  </a:txBody>
                  <a:tcPr marL="149317" marR="149317" marT="149317" marB="7465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388453"/>
                  </a:ext>
                </a:extLst>
              </a:tr>
              <a:tr h="880968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bg1"/>
                          </a:solidFill>
                          <a:effectLst/>
                        </a:rPr>
                        <a:t>High computational cost</a:t>
                      </a:r>
                    </a:p>
                  </a:txBody>
                  <a:tcPr marL="149317" marR="149317" marT="149317" marB="746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bg1"/>
                          </a:solidFill>
                          <a:effectLst/>
                        </a:rPr>
                        <a:t>Sparse attention or LSTM distillation.</a:t>
                      </a:r>
                    </a:p>
                  </a:txBody>
                  <a:tcPr marL="149317" marR="149317" marT="149317" marB="746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168775"/>
                  </a:ext>
                </a:extLst>
              </a:tr>
              <a:tr h="880968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bg1"/>
                          </a:solidFill>
                          <a:effectLst/>
                        </a:rPr>
                        <a:t>Variable video lengths/occlusion</a:t>
                      </a:r>
                    </a:p>
                  </a:txBody>
                  <a:tcPr marL="149317" marR="149317" marT="149317" marB="746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bg1"/>
                          </a:solidFill>
                          <a:effectLst/>
                        </a:rPr>
                        <a:t>Sliding windows + optical flow.</a:t>
                      </a:r>
                    </a:p>
                  </a:txBody>
                  <a:tcPr marL="149317" marR="149317" marT="149317" marB="746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130404"/>
                  </a:ext>
                </a:extLst>
              </a:tr>
              <a:tr h="582335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bg1"/>
                          </a:solidFill>
                          <a:effectLst/>
                        </a:rPr>
                        <a:t>Class imbalance</a:t>
                      </a:r>
                    </a:p>
                  </a:txBody>
                  <a:tcPr marL="149317" marR="149317" marT="149317" marB="746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bg1"/>
                          </a:solidFill>
                          <a:effectLst/>
                        </a:rPr>
                        <a:t>Focal loss or oversampling.</a:t>
                      </a:r>
                    </a:p>
                  </a:txBody>
                  <a:tcPr marL="149317" marR="149317" marT="149317" marB="746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333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815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70721-5435-5955-AF74-2D0F0F6F5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DB5F48-91C8-C9F3-2F92-7CAA1CE50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Conclusion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4EC2D-A6A0-9B63-C403-E2BFDA9364CC}"/>
              </a:ext>
            </a:extLst>
          </p:cNvPr>
          <p:cNvSpPr txBox="1"/>
          <p:nvPr/>
        </p:nvSpPr>
        <p:spPr>
          <a:xfrm>
            <a:off x="1294330" y="1692166"/>
            <a:ext cx="102954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/>
          </a:p>
          <a:p>
            <a:r>
              <a:rPr lang="en-US" sz="2400" b="1" dirty="0"/>
              <a:t>Impact: A scalable, real-time HAR system for diverse applications.</a:t>
            </a:r>
          </a:p>
          <a:p>
            <a:endParaRPr lang="en-US" sz="2400" b="1" dirty="0"/>
          </a:p>
          <a:p>
            <a:r>
              <a:rPr lang="en-US" sz="2400" b="1" dirty="0"/>
              <a:t>Future Work: Deploy on edge devices, integrate with IoT systems.</a:t>
            </a:r>
          </a:p>
          <a:p>
            <a:br>
              <a:rPr lang="en-US" sz="2400" b="1" dirty="0"/>
            </a:br>
            <a:br>
              <a:rPr lang="en-US" sz="2400" b="1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8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2F8F-3924-EEB9-61AA-CABFC304F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9210" y="914400"/>
            <a:ext cx="5641848" cy="50292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7520802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purl.org/dc/terms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sharepoint/v3"/>
    <ds:schemaRef ds:uri="16c05727-aa75-4e4a-9b5f-8a80a1165891"/>
    <ds:schemaRef ds:uri="http://schemas.openxmlformats.org/package/2006/metadata/core-propertie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737</TotalTime>
  <Words>1012</Words>
  <Application>Microsoft Macintosh PowerPoint</Application>
  <PresentationFormat>Widescreen</PresentationFormat>
  <Paragraphs>104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Courier New</vt:lpstr>
      <vt:lpstr>Gill Sans Nova Light</vt:lpstr>
      <vt:lpstr>Helvetica Neue</vt:lpstr>
      <vt:lpstr>Sagona Book</vt:lpstr>
      <vt:lpstr>Custom</vt:lpstr>
      <vt:lpstr>Real-Time Human Activity Classification Using CNN and LSTM/Transformer                                                                                                              -Akash Rana </vt:lpstr>
      <vt:lpstr>Introduction &amp; Motivation </vt:lpstr>
      <vt:lpstr>Motivation</vt:lpstr>
      <vt:lpstr>Dataset &amp; Preprocessing</vt:lpstr>
      <vt:lpstr> Model Architecture</vt:lpstr>
      <vt:lpstr>Workflow Overview</vt:lpstr>
      <vt:lpstr>Evaluation Metrics</vt:lpstr>
      <vt:lpstr>Expected Results</vt:lpstr>
      <vt:lpstr>Challenges &amp; Solutions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Akash Rana</cp:lastModifiedBy>
  <cp:revision>345</cp:revision>
  <dcterms:created xsi:type="dcterms:W3CDTF">2024-11-29T09:08:44Z</dcterms:created>
  <dcterms:modified xsi:type="dcterms:W3CDTF">2025-03-03T08:05:49Z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